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f12884c26c4e57" /><Relationship Type="http://schemas.openxmlformats.org/officeDocument/2006/relationships/extended-properties" Target="/docProps/app.xml" Id="R092cd3978b634b0d" /><Relationship Type="http://schemas.openxmlformats.org/officeDocument/2006/relationships/officeDocument" Target="/ppt/presentation.xml" Id="R82237c57d7e049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d4b2284831442a"/>
  </p:sldMasterIdLst>
  <p:notesMasterIdLst>
    <p:notesMasterId xmlns:r="http://schemas.openxmlformats.org/officeDocument/2006/relationships" r:id="R80509d33221c4e3e"/>
  </p:notesMasterIdLst>
  <p:sldIdLst>
    <p:sldId xmlns:r="http://schemas.openxmlformats.org/officeDocument/2006/relationships" id="256" r:id="Rf791969221c44d87"/>
    <p:sldId xmlns:r="http://schemas.openxmlformats.org/officeDocument/2006/relationships" id="257" r:id="R5ee43dd8af884a48"/>
    <p:sldId xmlns:r="http://schemas.openxmlformats.org/officeDocument/2006/relationships" id="258" r:id="R3d615af67e1645d9"/>
    <p:sldId xmlns:r="http://schemas.openxmlformats.org/officeDocument/2006/relationships" id="259" r:id="R128f216c48ec4770"/>
    <p:sldId xmlns:r="http://schemas.openxmlformats.org/officeDocument/2006/relationships" id="260" r:id="R96651606744d41a1"/>
    <p:sldId xmlns:r="http://schemas.openxmlformats.org/officeDocument/2006/relationships" id="261" r:id="Rbc51df2f90aa496c"/>
    <p:sldId xmlns:r="http://schemas.openxmlformats.org/officeDocument/2006/relationships" id="262" r:id="R73e1a733404541e1"/>
    <p:sldId xmlns:r="http://schemas.openxmlformats.org/officeDocument/2006/relationships" id="263" r:id="R98e3fb6bae9e47ba"/>
    <p:sldId xmlns:r="http://schemas.openxmlformats.org/officeDocument/2006/relationships" id="264" r:id="R3a071565a11641f8"/>
    <p:sldId xmlns:r="http://schemas.openxmlformats.org/officeDocument/2006/relationships" id="265" r:id="Ra00e263068ca4c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9126034ce44a3e" /><Relationship Type="http://schemas.openxmlformats.org/officeDocument/2006/relationships/slideMaster" Target="/ppt/slideMasters/slideMaster1.xml" Id="R55d4b2284831442a" /><Relationship Type="http://schemas.openxmlformats.org/officeDocument/2006/relationships/notesMaster" Target="/ppt/notesMasters/notesMaster1.xml" Id="R80509d33221c4e3e" /><Relationship Type="http://schemas.openxmlformats.org/officeDocument/2006/relationships/presProps" Target="/ppt/presProps.xml" Id="R9670906bf77440d8" /><Relationship Type="http://schemas.openxmlformats.org/officeDocument/2006/relationships/tableStyles" Target="/ppt/tableStyles.xml" Id="R10081ba43eb14b90" /><Relationship Type="http://schemas.openxmlformats.org/officeDocument/2006/relationships/slide" Target="/ppt/slides/slide1.xml" Id="Rf791969221c44d87" /><Relationship Type="http://schemas.openxmlformats.org/officeDocument/2006/relationships/slide" Target="/ppt/slides/slide2.xml" Id="R5ee43dd8af884a48" /><Relationship Type="http://schemas.openxmlformats.org/officeDocument/2006/relationships/slide" Target="/ppt/slides/slide3.xml" Id="R3d615af67e1645d9" /><Relationship Type="http://schemas.openxmlformats.org/officeDocument/2006/relationships/slide" Target="/ppt/slides/slide4.xml" Id="R128f216c48ec4770" /><Relationship Type="http://schemas.openxmlformats.org/officeDocument/2006/relationships/slide" Target="/ppt/slides/slide5.xml" Id="R96651606744d41a1" /><Relationship Type="http://schemas.openxmlformats.org/officeDocument/2006/relationships/slide" Target="/ppt/slides/slide6.xml" Id="Rbc51df2f90aa496c" /><Relationship Type="http://schemas.openxmlformats.org/officeDocument/2006/relationships/slide" Target="/ppt/slides/slide7.xml" Id="R73e1a733404541e1" /><Relationship Type="http://schemas.openxmlformats.org/officeDocument/2006/relationships/slide" Target="/ppt/slides/slide8.xml" Id="R98e3fb6bae9e47ba" /><Relationship Type="http://schemas.openxmlformats.org/officeDocument/2006/relationships/slide" Target="/ppt/slides/slide9.xml" Id="R3a071565a11641f8" /><Relationship Type="http://schemas.openxmlformats.org/officeDocument/2006/relationships/slide" Target="/ppt/slides/slide10.xml" Id="Ra00e263068ca4c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fcee15b53e4e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ea26526c534c59" /><Relationship Type="http://schemas.openxmlformats.org/officeDocument/2006/relationships/notesMaster" Target="/ppt/notesMasters/notesMaster1.xml" Id="R9203c0b819ff47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510ca26fab4d1a" /><Relationship Type="http://schemas.openxmlformats.org/officeDocument/2006/relationships/notesMaster" Target="/ppt/notesMasters/notesMaster1.xml" Id="R4603c55d4e1949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aad8dbaf3f495f" /><Relationship Type="http://schemas.openxmlformats.org/officeDocument/2006/relationships/notesMaster" Target="/ppt/notesMasters/notesMaster1.xml" Id="R0012413aa4704d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663f4645144f28" /><Relationship Type="http://schemas.openxmlformats.org/officeDocument/2006/relationships/notesMaster" Target="/ppt/notesMasters/notesMaster1.xml" Id="R8e22bf6709414b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f882ac37744685" /><Relationship Type="http://schemas.openxmlformats.org/officeDocument/2006/relationships/notesMaster" Target="/ppt/notesMasters/notesMaster1.xml" Id="R33bad4bbc78340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271db6a2c04194" /><Relationship Type="http://schemas.openxmlformats.org/officeDocument/2006/relationships/notesMaster" Target="/ppt/notesMasters/notesMaster1.xml" Id="Rd524a7642c7b4f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1b58e54d0e49af" /><Relationship Type="http://schemas.openxmlformats.org/officeDocument/2006/relationships/notesMaster" Target="/ppt/notesMasters/notesMaster1.xml" Id="R300ff929a8004e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37f8bd97334eee" /><Relationship Type="http://schemas.openxmlformats.org/officeDocument/2006/relationships/notesMaster" Target="/ppt/notesMasters/notesMaster1.xml" Id="R7dbfd8019de94b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977793e38141f6" /><Relationship Type="http://schemas.openxmlformats.org/officeDocument/2006/relationships/notesMaster" Target="/ppt/notesMasters/notesMaster1.xml" Id="Re5b44e678fee40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44f49027ec4401" /><Relationship Type="http://schemas.openxmlformats.org/officeDocument/2006/relationships/notesMaster" Target="/ppt/notesMasters/notesMaster1.xml" Id="R6f76f7702c06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frontend/assets/heroes/hero_peer_mesh.png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reference/problem_statements.md</a:t>
            </a:r>
          </a:p>
          <a:p xmlns:a="http://schemas.openxmlformats.org/drawingml/2006/main">
            <a:r>
              <a:t>- src/amr.py</a:t>
            </a:r>
          </a:p>
          <a:p xmlns:a="http://schemas.openxmlformats.org/drawingml/2006/main">
            <a:r>
              <a:t>- src/scenarios.py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src/distributed_demo.py</a:t>
            </a:r>
          </a:p>
          <a:p xmlns:a="http://schemas.openxmlformats.org/drawingml/2006/main">
            <a:r>
              <a:t>- src/edge_runtime.py</a:t>
            </a:r>
          </a:p>
          <a:p xmlns:a="http://schemas.openxmlformats.org/drawingml/2006/main">
            <a:r>
              <a:t>- docs/WIRE_PROTOCOL.md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src/messages.py</a:t>
            </a:r>
          </a:p>
          <a:p xmlns:a="http://schemas.openxmlformats.org/drawingml/2006/main">
            <a:r>
              <a:t>- src/transport.py</a:t>
            </a:r>
          </a:p>
          <a:p xmlns:a="http://schemas.openxmlformats.org/drawingml/2006/main">
            <a:r>
              <a:t>- tests/test_core.py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src/world.py</a:t>
            </a:r>
          </a:p>
          <a:p xmlns:a="http://schemas.openxmlformats.org/drawingml/2006/main">
            <a:r>
              <a:t>- src/amr.py</a:t>
            </a:r>
          </a:p>
          <a:p xmlns:a="http://schemas.openxmlformats.org/drawingml/2006/main">
            <a:r>
              <a:t>- src/scenarios.py</a:t>
            </a:r>
          </a:p>
          <a:p xmlns:a="http://schemas.openxmlformats.org/drawingml/2006/main">
            <a:r>
              <a:t>- tests/test_resilience.py</a:t>
            </a:r>
          </a:p>
          <a:p xmlns:a="http://schemas.openxmlformats.org/drawingml/2006/main">
            <a:r>
              <a:t>- frontend/assets/heroes/hero_blocked_reroute.png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artifacts/benchmarks/fault-campaign.json</a:t>
            </a:r>
          </a:p>
          <a:p xmlns:a="http://schemas.openxmlformats.org/drawingml/2006/main">
            <a:r>
              <a:t>- src/fault_campaign.py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artifacts/benchmarks/sih-acceptance.json</a:t>
            </a:r>
          </a:p>
          <a:p xmlns:a="http://schemas.openxmlformats.org/drawingml/2006/main">
            <a:r>
              <a:t>- docs/SIH_ACCEPTANCE_BENCHMARK.md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src/distributed_demo.py</a:t>
            </a:r>
          </a:p>
          <a:p xmlns:a="http://schemas.openxmlformats.org/drawingml/2006/main">
            <a:r>
              <a:t>- src/edge_runtime.py</a:t>
            </a:r>
          </a:p>
          <a:p xmlns:a="http://schemas.openxmlformats.org/drawingml/2006/main">
            <a:r>
              <a:t>- docs/EDGE_DEPLOYMENT.md</a:t>
            </a:r>
          </a:p>
          <a:p xmlns:a="http://schemas.openxmlformats.org/drawingml/2006/main">
            <a:r>
              <a:t>- frontend/assets/heroes/hero_edge_vs_cloud.png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.github/workflows/ci.yml</a:t>
            </a:r>
          </a:p>
          <a:p xmlns:a="http://schemas.openxmlformats.org/drawingml/2006/main">
            <a:r>
              <a:t>- docs/EDGE_DEPLOYMENT.md</a:t>
            </a:r>
          </a:p>
          <a:p xmlns:a="http://schemas.openxmlformats.org/drawingml/2006/main">
            <a:r>
              <a:t>- deploy/systemd/sih-edge-node@.service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docs/EDGE_DEPLOYMENT.md</a:t>
            </a:r>
          </a:p>
          <a:p xmlns:a="http://schemas.openxmlformats.org/drawingml/2006/main">
            <a:r>
              <a:t>- docs/DEMO_AND_JUDGING.md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15fddb90841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627c118062439c" /><Relationship Type="http://schemas.openxmlformats.org/officeDocument/2006/relationships/slideLayout" Target="/ppt/slideLayouts/slideLayout1.xml" Id="R646cddf16bc34e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cddf16bc34e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5d21f2ad4137" /><Relationship Type="http://schemas.openxmlformats.org/officeDocument/2006/relationships/image" Target="/ppt/media/image.png" Id="R50ebbeb816854ad8" /><Relationship Type="http://schemas.openxmlformats.org/officeDocument/2006/relationships/notesSlide" Target="/ppt/notesSlides/notesSlide1.xml" Id="R1b13a252307a48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8ecd4bb7c42a2" /><Relationship Type="http://schemas.openxmlformats.org/officeDocument/2006/relationships/notesSlide" Target="/ppt/notesSlides/notesSlide2.xml" Id="R36463d0ee5d940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dfe5910514f76" /><Relationship Type="http://schemas.openxmlformats.org/officeDocument/2006/relationships/notesSlide" Target="/ppt/notesSlides/notesSlide3.xml" Id="Rb6504b5a28a54a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575883e294a22" /><Relationship Type="http://schemas.openxmlformats.org/officeDocument/2006/relationships/notesSlide" Target="/ppt/notesSlides/notesSlide4.xml" Id="R50e1e003a20049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aadf1c5d94b74" /><Relationship Type="http://schemas.openxmlformats.org/officeDocument/2006/relationships/image" Target="/ppt/media/image2.png" Id="R212ed7b914834d52" /><Relationship Type="http://schemas.openxmlformats.org/officeDocument/2006/relationships/notesSlide" Target="/ppt/notesSlides/notesSlide5.xml" Id="Rc448bfa713154c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3f5148bd74e62" /><Relationship Type="http://schemas.openxmlformats.org/officeDocument/2006/relationships/chart" Target="/ppt/slides/charts/chart1.xml" Id="R8652ac51458f4439" /><Relationship Type="http://schemas.openxmlformats.org/officeDocument/2006/relationships/notesSlide" Target="/ppt/notesSlides/notesSlide6.xml" Id="Rd843ddeeacef48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7727807f74f42" /><Relationship Type="http://schemas.openxmlformats.org/officeDocument/2006/relationships/chart" Target="/ppt/slides/charts/chart2.xml" Id="Rfe441551cc834237" /><Relationship Type="http://schemas.openxmlformats.org/officeDocument/2006/relationships/notesSlide" Target="/ppt/notesSlides/notesSlide7.xml" Id="R37e394364a9140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b9f5ddff74309" /><Relationship Type="http://schemas.openxmlformats.org/officeDocument/2006/relationships/image" Target="/ppt/media/image3.png" Id="Re6805cbd67d440d7" /><Relationship Type="http://schemas.openxmlformats.org/officeDocument/2006/relationships/notesSlide" Target="/ppt/notesSlides/notesSlide8.xml" Id="Rb47ef5bacccb4b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8f435e91949ad" /><Relationship Type="http://schemas.openxmlformats.org/officeDocument/2006/relationships/notesSlide" Target="/ppt/notesSlides/notesSlide9.xml" Id="R965c0f0ce7314a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7ae9e0d2c4f04" /><Relationship Type="http://schemas.openxmlformats.org/officeDocument/2006/relationships/notesSlide" Target="/ppt/notesSlides/notesSlide10.xml" Id="R580216dcd52b480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Median makespan (s)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0%</c:v>
              </c:pt>
              <c:pt idx="1">
                <c:v>5%</c:v>
              </c:pt>
              <c:pt idx="2">
                <c:v>10%</c:v>
              </c:pt>
              <c:pt idx="3">
                <c:v>20%</c:v>
              </c:pt>
            </c:strLit>
          </c:cat>
          <c:val>
            <c:numLit>
              <c:formatCode>General</c:formatCode>
              <c:ptCount val="4"/>
              <c:pt idx="0">
                <c:v>382.37</c:v>
              </c:pt>
              <c:pt idx="1">
                <c:v>382.32</c:v>
              </c:pt>
              <c:pt idx="2">
                <c:v>383.63</c:v>
              </c:pt>
              <c:pt idx="3">
                <c:v>387.53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9616E"/>
                    </a:solidFill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9616E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Candidate median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4 AMRs</c:v>
              </c:pt>
              <c:pt idx="1">
                <c:v>6 AMRs</c:v>
              </c:pt>
              <c:pt idx="2">
                <c:v>8 AMRs</c:v>
              </c:pt>
            </c:strLit>
          </c:cat>
          <c:val>
            <c:numLit>
              <c:formatCode>General</c:formatCode>
              <c:ptCount val="3"/>
              <c:pt idx="0">
                <c:v>382.37</c:v>
              </c:pt>
              <c:pt idx="1">
                <c:v>543.38</c:v>
              </c:pt>
              <c:pt idx="2">
                <c:v>712.69</c:v>
              </c:pt>
            </c:numLit>
          </c:val>
        </c:ser>
        <c:ser>
          <c:idx val="1"/>
          <c:order val="1"/>
          <c:tx>
            <c:v>Baseline cutoff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4 AMRs</c:v>
              </c:pt>
              <c:pt idx="1">
                <c:v>6 AMRs</c:v>
              </c:pt>
              <c:pt idx="2">
                <c:v>8 AMRs</c:v>
              </c:pt>
            </c:strLit>
          </c:cat>
          <c:val>
            <c:numLit>
              <c:formatCode>General</c:formatCode>
              <c:ptCount val="3"/>
              <c:pt idx="0">
                <c:v>1200</c:v>
              </c:pt>
              <c:pt idx="1">
                <c:v>1200</c:v>
              </c:pt>
              <c:pt idx="2">
                <c:v>1200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9616E"/>
                    </a:solidFill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9616E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19C2D-EBC6-4435-A5CD-9B3EBFD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SIH26123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266E7-62B8-43B8-8044-A5C52F24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42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Distributed edge coordination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warehouse AMRs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4949C-BFBA-4DDE-BEEF-EFB550D4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Independent robot processes, authenticated peer traffic, local safety, and reproducible failure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0E202-D291-42B0-94D2-1A37896D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5435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bbeb816854ad8"/>
          <a:srcRect xmlns:a="http://schemas.openxmlformats.org/drawingml/2006/main" l="22162" t="0" r="221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543550" cy="5600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3B42C-1005-4843-85FB-B38A6B0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Implementation review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8976663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C6833C1-4ED1-48CC-9EDB-D62BE064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1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requirement is three systems, not one 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6F0E2-E832-487E-B962-3FEF8623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DDB91-67CD-4AFA-9767-15E6838D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B8DB4-B24F-42A9-AF17-285015FE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Coordinate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E3083-9E8D-4E4D-A50C-FE29588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Resolve task ownership and path conflicts without a central movement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27491-A6B8-4A82-AA75-00B011BF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F3A47-BB0A-4F3D-98EF-8B15B4F4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Stay safe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CE864-9481-4CE1-A15E-A59685EE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Protective stopping must remain onboard and independent of peer packets.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F4874-89DD-4086-9687-F2666B79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1649B-FE6B-4DB3-AC4E-7D5FD8AD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3020D-EFC3-4D84-BB4A-82500BCB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Packet loss, partitions, blocked aisles and crashed winners must converge safely.</a:t>
            </a:r>
          </a:p>
        </p:txBody>
      </p:sp>
    </p:spTree>
    <p:extLst>
      <p:ext uri="{BB962C8B-B14F-4D97-AF65-F5344CB8AC3E}">
        <p14:creationId xmlns:p14="http://schemas.microsoft.com/office/powerpoint/2010/main" val="8296332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FD620E0-2F51-4477-BC32-274F0398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71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AMR owns its control loop and its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06D57-CADC-418C-8529-5BE69B77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A02B8-63E0-441B-8EF8-27CB6F70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2095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52486-7178-49A9-8213-E8FACAE6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2095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DD30E-7237-4384-97FF-DA4DA8A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E41E4-236B-44B4-BE2B-E87FC0E0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AMR01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61ABA-F1B1-4280-BC8C-B1085FDD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59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50 Hz safety</a:t>
            </a:r>
          </a:p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10 Hz traffic</a:t>
            </a:r>
          </a:p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local route + task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032CF-4653-4B12-97E0-7805F8D1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16408-2649-4A65-B277-AE7EA2CE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383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AMR02 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82DAB-7DED-4B7F-AD38-AD8E0432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5125"/>
            <a:ext cx="259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50 Hz safety</a:t>
            </a:r>
          </a:p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10 Hz traffic</a:t>
            </a:r>
          </a:p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local route + task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05780-62BC-4343-92D6-31AAA4B6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05FC0-869F-4C05-BF71-1F49873F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AMR03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34F3D-E89A-463F-B315-066AFE2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05125"/>
            <a:ext cx="259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50 Hz safety</a:t>
            </a:r>
          </a:p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10 Hz traffic</a:t>
            </a:r>
          </a:p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local route + task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14576-50EE-4224-AB7A-752396D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291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HMAC UDP multicast · relative TTLs · replay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A4BDE-F1B3-4D78-9513-03232AF3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46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dashboard listens. The WMS announces work. Neither sends a motor command.</a:t>
            </a:r>
          </a:p>
        </p:txBody>
      </p:sp>
    </p:spTree>
    <p:extLst>
      <p:ext uri="{BB962C8B-B14F-4D97-AF65-F5344CB8AC3E}">
        <p14:creationId xmlns:p14="http://schemas.microsoft.com/office/powerpoint/2010/main" val="18832112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AE26894-5EAF-434A-A50A-0A20F1E5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wire protocol assumes loss, reordering and unrelated clocks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8B866-7D1A-4B7E-8672-91C52788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B0770-DCC0-49E8-B465-4361FBE1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2D79A-F73A-44D9-BE0F-D0D482C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391C2-1AD3-4AB2-B894-EF91919D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C30BF-58EA-450B-9171-7C326A3B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Bounded schemas reject malformed, oversized and non-finite datagrams before brain ingestion.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A64E7-1181-4EFC-B501-295887D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12EE4-896C-465A-907D-59D42D27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Authenticate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7D578-7AE5-4C91-877A-10EE23CB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HMAC-SHA256 protects priority, intent and award integrity; session replay windows reject duplicates.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2E098-767F-41FD-B5AA-DF48A47E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B50B4-76F1-4D00-B5CA-AE1D1468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4C00C-FB9E-4CD6-A2CF-75BAC1DB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Intent windows and leases are relative durations converted to each receiver's monotonic clock.</a:t>
            </a:r>
          </a:p>
        </p:txBody>
      </p:sp>
    </p:spTree>
    <p:extLst>
      <p:ext uri="{BB962C8B-B14F-4D97-AF65-F5344CB8AC3E}">
        <p14:creationId xmlns:p14="http://schemas.microsoft.com/office/powerpoint/2010/main" val="5218984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9E60DEA-9AB6-4D30-9C82-230051B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9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Anonymous obstacles and silent robots trigger bounded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CB6D5-5726-4E28-B338-6E90DAF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ed7b914834d52"/>
          <a:srcRect xmlns:a="http://schemas.openxmlformats.org/drawingml/2006/main" l="17387" t="0" r="173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381125"/>
            <a:ext cx="5191125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CC173-A8FF-459B-82FA-2E399FCC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049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Blocked aisle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8EAA1-4458-46DB-A3D1-3FEAB647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478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Persistent local detections become expiring blocked cells; A* replans around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0EFF6-6499-4586-8822-5FB954D1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Crashed auction winner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7AF37-5952-41E5-8FA1-3BE0B1C7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33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Its lease expires, peers raise the epoch, and a survivor completes the task. The chassis remains a sensed obstacle.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F9D63-9D13-4794-BF22-D2C94649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48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worker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71A1A-B74D-497D-BA53-5031C68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24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No message dependency: local braking and off-aisle parking keep the worker path clear.</a:t>
            </a:r>
          </a:p>
        </p:txBody>
      </p:sp>
    </p:spTree>
    <p:extLst>
      <p:ext uri="{BB962C8B-B14F-4D97-AF65-F5344CB8AC3E}">
        <p14:creationId xmlns:p14="http://schemas.microsoft.com/office/powerpoint/2010/main" val="4620116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CD2D164-387D-4156-9ECB-74584871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4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full fault campaign passes after catalog convergence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F2DBB-A335-4507-8EEB-8E25749D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6191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52ac51458f443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B83B4-719F-47E4-8ACF-509BAC82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095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9B1DF-B0A4-4E0E-8FBD-23F86E52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859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180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B7E74-C832-4A67-B133-BAC88C2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loss + partition + crash matrix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0CFF3-1AC1-4B65-A3AC-500C4CF2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4095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E9B52-7748-4464-AC1C-D52E901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051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30/30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4EDCC-BEDD-4A64-B065-7A32D85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partition-heal completion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B2974-99CB-4A6A-97B5-F947561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4095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2F4DE-B230-4B8B-80EF-D971198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D9AA7-069A-44F6-A2F7-3CA66E00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76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robot · human · rack</a:t>
            </a:r>
          </a:p>
        </p:txBody>
      </p:sp>
    </p:spTree>
    <p:extLst>
      <p:ext uri="{BB962C8B-B14F-4D97-AF65-F5344CB8AC3E}">
        <p14:creationId xmlns:p14="http://schemas.microsoft.com/office/powerpoint/2010/main" val="2881533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CCF57F7-EF70-47BA-B14F-32801A00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6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fleet clears the 20% requirement conservatively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1F08C-A6CC-4D55-B30D-7138D5E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6191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441551cc83423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6409E-4860-443C-A232-346E3747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Minimum per-seed reduction lower bounds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70042-79C6-4931-A7EC-D8E4609F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4 AMRs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BC43B-F420-484D-BD9D-F77AA4E8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66.06%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9CEF4-52AD-4AAA-BA99-6E72B288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6 AMRs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DBF3D-B215-49F4-B451-D3631C0F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81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51.03%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95D04-4A61-42E0-A47E-C29F56C9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8 AMRs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6143A-1163-4DEF-8F47-BBA3EA0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815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32.66%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AE9EB-B763-4D3E-8AB7-7660BB09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721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Right-censored lower bounds—not exact speedups. Stop-and-wait did not finish before 1200 s.</a:t>
            </a:r>
          </a:p>
        </p:txBody>
      </p:sp>
    </p:spTree>
    <p:extLst>
      <p:ext uri="{BB962C8B-B14F-4D97-AF65-F5344CB8AC3E}">
        <p14:creationId xmlns:p14="http://schemas.microsoft.com/office/powerpoint/2010/main" val="6341241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31392C4-B5FF-4041-B324-E9E634EA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deployment boundary is executable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11118-523D-49C7-AC2E-1DF17C35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05cbd67d440d7"/>
          <a:srcRect xmlns:a="http://schemas.openxmlformats.org/drawingml/2006/main" l="15592" t="0" r="155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381125"/>
            <a:ext cx="5476875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A2182-4F2A-4CC8-A959-01E31824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716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distinct PIDs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7F69A-A206-4CB0-88DD-600C43F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50"/>
            <a:ext cx="4524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Each owns a brain, clock, replay window and authenticated socket.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D060A-02F4-4264-9CA3-D184D205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861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~0.68 ms loop p95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47092-17C9-49F8-AA30-11DBD192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05250"/>
            <a:ext cx="4524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Measured on the development Mac against a 20 ms control period.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69921-B42A-4D67-B627-19B3C1CD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006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deadline misses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A90A4-6537-4404-975D-47E9F0F6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619750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Not a Raspberry Pi claim; the same JSON harness is ready for device evidence.</a:t>
            </a:r>
          </a:p>
        </p:txBody>
      </p:sp>
    </p:spTree>
    <p:extLst>
      <p:ext uri="{BB962C8B-B14F-4D97-AF65-F5344CB8AC3E}">
        <p14:creationId xmlns:p14="http://schemas.microsoft.com/office/powerpoint/2010/main" val="13835363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9DD265FC-57E1-413B-A94D-36386B72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3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prototype is now reproducible, testable and deployable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1DE6B-D79F-4A1F-AB42-5F5A2536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39D3C-9205-460F-9530-CF59C6F0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B7209-4B57-4C5A-8885-DDB2BE01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ACE21-A9DA-4441-99E3-590A6B46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93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37570-43A3-4EED-A5FC-62A99261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Protocol, safety, dashboard, failure and real-socket regressions.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636A8-79F0-4B46-BB9F-4BD67D6E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D31B6-FB31-46B9-B4D3-9617289B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383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924C1-2164-4304-A1C8-D2F2E028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6237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Ruff, pytest, bytecode, JavaScript and process smoke test.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D1283-C40A-4324-894D-3E41045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170C7-1557-4C12-A0D7-9FE5DBB8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Team runbook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4ECF0-2132-40B8-85E1-328B6DC1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Clone, venv, exact commands, packet schema and troubleshooting.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2282F-3BF6-4073-AF71-09C593CE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4BA52-501B-4BDB-9D72-34CDAE23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383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9EAEC-3A23-41DA-BDD8-1A9B372F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6237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Restricted systemd unit, non-secret config and JSON timing report.</a:t>
            </a:r>
          </a:p>
        </p:txBody>
      </p:sp>
    </p:spTree>
    <p:extLst>
      <p:ext uri="{BB962C8B-B14F-4D97-AF65-F5344CB8AC3E}">
        <p14:creationId xmlns:p14="http://schemas.microsoft.com/office/powerpoint/2010/main" val="3090748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0BD75D7-D1AF-449A-9F69-D053C0AB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Ready for hardware integration—with one honest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80CFA-0823-4E6F-A7C7-25B775F7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7D026-84D5-4C5C-A023-05B09E15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28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E6F2F-A590-4776-8DE1-09ED480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B5A05-1082-4DE0-B912-EE79F329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Independent edge processes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Authenticated, replay-safe wire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Loss and partition convergence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Crash reassignment and rerouting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Hardened dashboard and 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D5AC1-C592-4149-8B00-B4EFD5CF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448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C7E1B-421B-4AB7-AB4B-4DE345FF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External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CE3C8-E3AD-4122-B1B0-4FB920C9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6225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9616E"/>
                </a:solidFill>
                <a:latin typeface="Helvetica Neue"/>
                <a:ea typeface="Helvetica Neue"/>
                <a:cs typeface="Helvetica Neue"/>
              </a:rPr>
              <a:t>Run the supplied harness on the named Pi/Jetson, connect the real sensor and motor bridge, and retain the unedited CPU/RSS/deadline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E5A82-A719-4A99-941D-6A5873BE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007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Decision: proceed to device integration and controlled warehouse trials.</a:t>
            </a:r>
          </a:p>
        </p:txBody>
      </p:sp>
    </p:spTree>
    <p:extLst>
      <p:ext uri="{BB962C8B-B14F-4D97-AF65-F5344CB8AC3E}">
        <p14:creationId xmlns:p14="http://schemas.microsoft.com/office/powerpoint/2010/main" val="579717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2026-08-24T21:18:17.1480000Z</dcterms:created>
  <dcterms:modified xsi:type="dcterms:W3CDTF">2026-08-24T21:18:17.1480000Z</dcterms:modified>
</coreProperties>
</file>